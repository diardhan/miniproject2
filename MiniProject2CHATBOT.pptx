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4206240"/>
            <a:ext cx="5029200" cy="5029200"/>
          </a:xfrm>
          <a:prstGeom prst="ellipse">
            <a:avLst/>
          </a:prstGeom>
          <a:solidFill>
            <a:srgbClr val="2EC4B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5120640"/>
            <a:ext cx="3108960" cy="3108960"/>
          </a:xfrm>
          <a:prstGeom prst="ellipse">
            <a:avLst/>
          </a:prstGeom>
          <a:solidFill>
            <a:srgbClr val="2EC4B6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3317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CogniLearn AI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3375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 Tanya-Jawab Berbasis RAG untuk Metode Belajar Efektif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2 — PPKD AI Automation Engineer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6291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Shergy Diardhan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KONTEKS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Belakang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 siswa dan mahasiswa masih memakai teknik belajar yang sebenarnya kurang efektif, sementara teknik yang terbukti lebih ampuh justru kurang dikenal.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CogniLearn AI dibuat supaya siapa pun bisa bertanya langsung dan mendapat jawaban yang berbasis riset ilmiah, bukan opini atau mitos populer soal cara belajar.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60020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3093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belajar kurang efektif masih populer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18745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Rereading &amp; highlighting paling sering dipakai siswa, padahal riset menilainya berutilitas rendah.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30175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971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ampuh kurang dikenal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32918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recall, spaced practice, dan Teknik Feynman terbukti lebih efektif, tapi jarang diajarkan.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443484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4389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Illusion of knowing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47091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Siswa sering merasa sudah paham, padahal pemahamannya belum benar-benar teruji.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TUJUAN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" cy="35661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828800"/>
            <a:ext cx="3374136" cy="3566160"/>
          </a:xfrm>
          <a:prstGeom prst="roundRect">
            <a:avLst>
              <a:gd name="adj" fmla="val 2710"/>
            </a:avLst>
          </a:prstGeom>
          <a:solidFill>
            <a:srgbClr val="1B2153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803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 Berbasis Riset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52044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Menjawab pertanyaan seputar metode belajar dari 3 jurnal ilmiah, bukan opini atau mitos populer.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54864" cy="35661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1" name="Shape 9"/>
          <p:cNvSpPr/>
          <p:nvPr/>
        </p:nvSpPr>
        <p:spPr>
          <a:xfrm>
            <a:off x="4352544" y="1828800"/>
            <a:ext cx="3374136" cy="3566160"/>
          </a:xfrm>
          <a:prstGeom prst="roundRect">
            <a:avLst>
              <a:gd name="adj" fmla="val 2710"/>
            </a:avLst>
          </a:prstGeom>
          <a:solidFill>
            <a:srgbClr val="1B2153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214884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8803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Kenalkan Teknik Efektif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52044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Membantu pengguna mengenali &amp; menerapkan teknik belajar berutilitas tinggi (active recall, spaced practice, Teknik Feynman).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54864" cy="35661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7" name="Shape 15"/>
          <p:cNvSpPr/>
          <p:nvPr/>
        </p:nvSpPr>
        <p:spPr>
          <a:xfrm>
            <a:off x="8101584" y="1828800"/>
            <a:ext cx="3374136" cy="3566160"/>
          </a:xfrm>
          <a:prstGeom prst="roundRect">
            <a:avLst>
              <a:gd name="adj" fmla="val 2710"/>
            </a:avLst>
          </a:prstGeom>
          <a:solidFill>
            <a:srgbClr val="1B2153"/>
          </a:solidFill>
          <a:ln/>
        </p:spPr>
      </p:sp>
      <p:sp>
        <p:nvSpPr>
          <p:cNvPr id="18" name="Shape 16"/>
          <p:cNvSpPr/>
          <p:nvPr/>
        </p:nvSpPr>
        <p:spPr>
          <a:xfrm>
            <a:off x="8412480" y="214884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28803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Sadar Ilusi Pemahaman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352044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Meningkatkan kesadaran metakognitif pengguna terhadap illusion of knowing saat belajar.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DAMPAK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Manfaat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" cy="35661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828800"/>
            <a:ext cx="3374136" cy="3566160"/>
          </a:xfrm>
          <a:prstGeom prst="roundRect">
            <a:avLst>
              <a:gd name="adj" fmla="val 2710"/>
            </a:avLst>
          </a:prstGeom>
          <a:solidFill>
            <a:srgbClr val="1B2153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803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Siswa &amp; Mahasiswa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52044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lebih efektif dan efisien dengan teknik yang sudah terbukti secara ilmiah.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54864" cy="35661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1" name="Shape 9"/>
          <p:cNvSpPr/>
          <p:nvPr/>
        </p:nvSpPr>
        <p:spPr>
          <a:xfrm>
            <a:off x="4352544" y="1828800"/>
            <a:ext cx="3374136" cy="3566160"/>
          </a:xfrm>
          <a:prstGeom prst="roundRect">
            <a:avLst>
              <a:gd name="adj" fmla="val 2710"/>
            </a:avLst>
          </a:prstGeom>
          <a:solidFill>
            <a:srgbClr val="1B2153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214884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8803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Pendidik &amp; Mentor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52044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 cepat teknik belajar berbasis bukti untuk disampaikan ke peserta didik.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54864" cy="35661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7" name="Shape 15"/>
          <p:cNvSpPr/>
          <p:nvPr/>
        </p:nvSpPr>
        <p:spPr>
          <a:xfrm>
            <a:off x="8101584" y="1828800"/>
            <a:ext cx="3374136" cy="3566160"/>
          </a:xfrm>
          <a:prstGeom prst="roundRect">
            <a:avLst>
              <a:gd name="adj" fmla="val 2710"/>
            </a:avLst>
          </a:prstGeom>
          <a:solidFill>
            <a:srgbClr val="1B2153"/>
          </a:solidFill>
          <a:ln/>
        </p:spPr>
      </p:sp>
      <p:sp>
        <p:nvSpPr>
          <p:cNvPr id="18" name="Shape 16"/>
          <p:cNvSpPr/>
          <p:nvPr/>
        </p:nvSpPr>
        <p:spPr>
          <a:xfrm>
            <a:off x="8412480" y="214884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28803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352044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nyata implementasi RAG chatbot berbasis dokumen ilmiah yang bisa direplikasi ke domain lain.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SISTEM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data: dari dokumen jurnal sampai jawaban ke pengguna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1B215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2816352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Jurnal PDF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429000"/>
            <a:ext cx="1746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pengetahuan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3291840"/>
            <a:ext cx="320040" cy="274320"/>
          </a:xfrm>
          <a:prstGeom prst="rightArrow">
            <a:avLst/>
          </a:prstGeom>
          <a:solidFill>
            <a:srgbClr val="2EC4B6"/>
          </a:solidFill>
          <a:ln/>
        </p:spPr>
      </p:sp>
      <p:sp>
        <p:nvSpPr>
          <p:cNvPr id="9" name="Shape 7"/>
          <p:cNvSpPr/>
          <p:nvPr/>
        </p:nvSpPr>
        <p:spPr>
          <a:xfrm>
            <a:off x="2834640" y="265176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1B215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44368" y="2816352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&amp; Embedding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944368" y="3429000"/>
            <a:ext cx="1746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teks + representasi vektor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3291840"/>
            <a:ext cx="320040" cy="274320"/>
          </a:xfrm>
          <a:prstGeom prst="rightArrow">
            <a:avLst/>
          </a:prstGeom>
          <a:solidFill>
            <a:srgbClr val="2EC4B6"/>
          </a:solidFill>
          <a:ln/>
        </p:spPr>
      </p:sp>
      <p:sp>
        <p:nvSpPr>
          <p:cNvPr id="13" name="Shape 11"/>
          <p:cNvSpPr/>
          <p:nvPr/>
        </p:nvSpPr>
        <p:spPr>
          <a:xfrm>
            <a:off x="5120640" y="265176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1B215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30368" y="2816352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230368" y="3429000"/>
            <a:ext cx="1746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(lokal)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86600" y="3291840"/>
            <a:ext cx="320040" cy="274320"/>
          </a:xfrm>
          <a:prstGeom prst="rightArrow">
            <a:avLst/>
          </a:prstGeom>
          <a:solidFill>
            <a:srgbClr val="2EC4B6"/>
          </a:solidFill>
          <a:ln/>
        </p:spPr>
      </p:sp>
      <p:sp>
        <p:nvSpPr>
          <p:cNvPr id="17" name="Shape 15"/>
          <p:cNvSpPr/>
          <p:nvPr/>
        </p:nvSpPr>
        <p:spPr>
          <a:xfrm>
            <a:off x="7406640" y="265176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1B215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16368" y="2816352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+ LLM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516368" y="3429000"/>
            <a:ext cx="1746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chunk relevan -&gt; Groq gpt-oss-120b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372600" y="3291840"/>
            <a:ext cx="320040" cy="274320"/>
          </a:xfrm>
          <a:prstGeom prst="rightArrow">
            <a:avLst/>
          </a:prstGeom>
          <a:solidFill>
            <a:srgbClr val="2EC4B6"/>
          </a:solidFill>
          <a:ln/>
        </p:spPr>
      </p:sp>
      <p:sp>
        <p:nvSpPr>
          <p:cNvPr id="21" name="Shape 19"/>
          <p:cNvSpPr/>
          <p:nvPr/>
        </p:nvSpPr>
        <p:spPr>
          <a:xfrm>
            <a:off x="9692640" y="265176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2EC4B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802368" y="2816352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802368" y="3429000"/>
            <a:ext cx="1746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dari konteks jurnal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663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kali dijalankan, vector store dibangun ulang (reset_collection) supaya selalu sinkron dengan isi knowledge_docs/.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MEKANISME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Kerja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37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bertanya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30552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diketik lewat antarmuka chat (Streamlit).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95528" y="2286000"/>
            <a:ext cx="0" cy="594360"/>
          </a:xfrm>
          <a:prstGeom prst="line">
            <a:avLst/>
          </a:prstGeom>
          <a:noFill/>
          <a:ln w="25400">
            <a:solidFill>
              <a:srgbClr val="2A32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80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mencari konteks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273552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mengambil 3 potongan teks paling relevan dari 3 jurnal.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5528" y="3429000"/>
            <a:ext cx="0" cy="594360"/>
          </a:xfrm>
          <a:prstGeom prst="line">
            <a:avLst/>
          </a:prstGeom>
          <a:noFill/>
          <a:ln w="25400">
            <a:solidFill>
              <a:srgbClr val="2A32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023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 dikirim ke LLM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416552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Potongan teks + pertanyaan + instruksi anti-halusinasi dari system prompt dikirim ke model.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95528" y="4572000"/>
            <a:ext cx="0" cy="594360"/>
          </a:xfrm>
          <a:prstGeom prst="line">
            <a:avLst/>
          </a:prstGeom>
          <a:noFill/>
          <a:ln w="25400">
            <a:solidFill>
              <a:srgbClr val="2A32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521208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166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 disusun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559552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menjawab hanya dari konteks yang ditemukan, atau menyatakan "informasi tidak ditemukan" bila memang tidak ada.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Contoh Input–Output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023360"/>
        </p:xfrm>
        <a:graphic>
          <a:graphicData uri="http://schemas.openxmlformats.org/drawingml/2006/table">
            <a:tbl>
              <a:tblPr/>
              <a:tblGrid>
                <a:gridCol w="4937760"/>
                <a:gridCol w="612648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Pertanyaan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Jawaban Chatbot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53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FC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 itu active recall dan kenapa dianggap efektif?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FC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Menjelaskan definisi active recall/practice testing dan alasannya termasuk teknik berutilitas tinggi menurut jurnal Dunlosky dkk.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2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FC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Berapa jumlah partisipan penelitian &amp; jenis penilaian apa yang paling menunjukkan illusion of knowing?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FC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Menjawab 262 mahasiswa, dan penilaian prospektif (prospective judgments) paling menunjukkan illusion of knowing, sesuai jurnal Avhustiuk dkk.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B63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FC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Siapa presiden Indonesia saat ini?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FC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Menolak menjawab karena di luar cakupan 3 jurnal sumber.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2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VALIDASI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Evaluasi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3566160"/>
          </a:xfrm>
          <a:prstGeom prst="roundRect">
            <a:avLst>
              <a:gd name="adj" fmla="val 3077"/>
            </a:avLst>
          </a:prstGeom>
          <a:solidFill>
            <a:srgbClr val="2EC4B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2860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014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6/9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204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lolos setelah perbaikan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148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01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per jurnal x 3 jurnal, diuji ulang)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8288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176272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 awal (chunk_size=500, TOP_K=3) menghasilkan hasil tidak stabil - potongan teks terlalu kecil dan jumlah yang diambil terlalu sedikit untuk mencakup konteks dari 3 jurnal sekaligus.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24612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Perbaikan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593592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Memperbesar ukuran chunk (500 -&gt; 900 karakter, overlap 50 -&gt; 150) dan menaikkan jumlah potongan yang diambil per pertanyaan (TOP_K 3 -&gt; 6), supaya konteks lebih utuh dan merata dari ketiga jurnal.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466344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5010912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dari 9 pertanyaan uji berhasil dijawab dengan benar. 3 pertanyaan (moderate utility, tahapan Teknik Feynman, tantangan slow learners) masih konsisten gagal - sedang diselidiki lebih lanjut, kemungkinan terkait ekstraksi PDF.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2026-09-27T15:53:41Z</dcterms:created>
  <dcterms:modified xsi:type="dcterms:W3CDTF">2026-09-27T15:53:41Z</dcterms:modified>
</cp:coreProperties>
</file>